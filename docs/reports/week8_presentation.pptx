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F62DEB-D3B4-F5E5-F1D2-ECEFFFA66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247877-7113-6CC0-E2A7-63FDC7916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56EAA-9C59-4BE9-51A9-E2A31348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029CC-54B6-4E09-9AA7-0979F463A15F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CED564-60BB-FD58-9160-CECA2EEE3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C685A5-756C-FC7D-7AFC-575A4444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90FB-C25A-42B0-AA0C-CE61A12A7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953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91C4B7-E03E-6BCD-A03F-75EA22C5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25E245-67E9-161C-40B1-B34A1CF2A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7742F1-7F79-49BD-8840-29E542DC0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029CC-54B6-4E09-9AA7-0979F463A15F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5AF04-9BC6-427B-19A2-39B37385A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E3AEF-7380-0C75-245B-B3C30A0C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90FB-C25A-42B0-AA0C-CE61A12A7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3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6886C-CB2C-FE42-B0BE-3DDB41C6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7032FA-F5AE-443A-9DFE-0ADFAEC83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8D9B6-19A1-2BE8-97B2-FC6E8C93E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029CC-54B6-4E09-9AA7-0979F463A15F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F3B2C8-FA63-AF55-C35C-0E3E0BAC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006304-A90A-0975-A8D6-9EEAFDFB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90FB-C25A-42B0-AA0C-CE61A12A7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897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1C08FF-FFC7-F57D-3A3F-C0CA229C9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01BEBF-611B-E29C-DD72-B54A3466B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DAF27D-A2EF-5995-7E1A-E2A1E3F6B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56512E-D35F-2843-749A-BB38D6080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029CC-54B6-4E09-9AA7-0979F463A15F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0D6DF3-66BB-DA04-891B-9D06D2482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2391E0-BB19-B4DD-D1A1-C9CE53381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90FB-C25A-42B0-AA0C-CE61A12A7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865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428C5-A486-D6D7-8807-CB94A6D4C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648BE-D7BB-C6E4-E5C8-9D06BBA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FEF705-F3D8-0974-61A3-38EED98A0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51AF05C-FFEE-58AD-AD56-DB9952B0B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BC41C2-79EB-3788-28D2-268B7BEFCD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74ABC5-0DDA-D969-BB53-B7AB7E209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029CC-54B6-4E09-9AA7-0979F463A15F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2F45465-C2C5-9D9D-C847-7640636C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EBC33C6-46B6-16E8-2689-11CCAAA2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90FB-C25A-42B0-AA0C-CE61A12A7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3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42E51-F53B-B554-2D36-7743B8159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CF4216-3215-BD37-E40C-C43E25FCD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029CC-54B6-4E09-9AA7-0979F463A15F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408F57-EB3D-850E-EFEB-6B1B8979A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E5BAE7-4F55-8451-AE6D-EE811F3EA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90FB-C25A-42B0-AA0C-CE61A12A7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79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316C6E0-50F0-6C74-34BC-C6B75E86C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029CC-54B6-4E09-9AA7-0979F463A15F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0868E7-99C9-E5A2-ACD9-A8603155B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CC8949-5FEB-44FF-D6B9-8EBD4096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90FB-C25A-42B0-AA0C-CE61A12A7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19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0154C-F179-ED3B-D793-75D95420A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DF22A5-B087-8D9C-7140-EAFDEF26A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A81BB5-F3EE-AC81-04ED-6FFCDB04D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61876A-9C58-1FD7-05A7-10A784BBA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029CC-54B6-4E09-9AA7-0979F463A15F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A408E9-9FF9-8884-DD35-A95C549C8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6CE30A-B329-8466-C8EB-D80B946F1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90FB-C25A-42B0-AA0C-CE61A12A7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717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E1B75-D521-C725-9238-44D7FD9F5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17117CE-4B25-A134-B1FF-7E32CA0ED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175B63-DE22-B563-531B-62F8D12DF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E01562-4D0F-7540-6DEB-C97AC0541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029CC-54B6-4E09-9AA7-0979F463A15F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E6EBAC-1DBE-8456-528B-199AE9094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16FE9A-AB35-7FE4-BD4F-13AA28D5B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90FB-C25A-42B0-AA0C-CE61A12A7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770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2248BD-281C-4CF6-A0EF-381621FD0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324C4D-2752-CDD1-3213-3A4458D11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29E228-B951-3D0C-7DC5-49D10174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029CC-54B6-4E09-9AA7-0979F463A15F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BBF2D8-1863-3E21-8A1A-E02BA56B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35C01F-2EB0-4FB6-982C-F452928B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90FB-C25A-42B0-AA0C-CE61A12A7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202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329F0CB-BB3E-5A43-D4D1-6CB82DD84C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7A221B-D213-4543-AC6E-BCD0A0815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1D446-E402-7015-3842-4431FBE37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029CC-54B6-4E09-9AA7-0979F463A15F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3FB3D5-ECDB-4F24-7A33-471CD963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8BA4E6-07A5-AF89-007E-3B380501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A90FB-C25A-42B0-AA0C-CE61A12A7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5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3FB869-90A7-02AC-24FA-B455395A8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F3050F-33B7-A2C6-0088-DFDA7052B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D91AFC-7DC8-7379-4A57-DBA03013F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029CC-54B6-4E09-9AA7-0979F463A15F}" type="datetimeFigureOut">
              <a:rPr lang="ko-KR" altLang="en-US" smtClean="0"/>
              <a:t>2026-10-24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2CF85C-503B-E9A4-21E4-66107B394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AFF0CB-C76B-4CF0-985F-A3AA345E5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A90FB-C25A-42B0-AA0C-CE61A12A75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123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33AA89-2E68-7997-528F-689B6556FD1E}"/>
              </a:ext>
            </a:extLst>
          </p:cNvPr>
          <p:cNvSpPr txBox="1"/>
          <p:nvPr/>
        </p:nvSpPr>
        <p:spPr>
          <a:xfrm>
            <a:off x="533400" y="254000"/>
            <a:ext cx="10160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 b="1">
                <a:solidFill>
                  <a:srgbClr val="5B21B6"/>
                </a:solidFill>
                <a:latin typeface="맑은 고딕" panose="020B0503020000020004" pitchFamily="50" charset="-127"/>
              </a:rPr>
              <a:t>CAPSTONE / BLOCKCHAIN VOTING</a:t>
            </a:r>
            <a:endParaRPr lang="ko-KR" altLang="en-US" sz="1100" b="1">
              <a:solidFill>
                <a:srgbClr val="5B21B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2F67E-CA7B-6BBC-D86A-C17466C7D6A9}"/>
              </a:ext>
            </a:extLst>
          </p:cNvPr>
          <p:cNvSpPr txBox="1"/>
          <p:nvPr/>
        </p:nvSpPr>
        <p:spPr>
          <a:xfrm>
            <a:off x="533400" y="736600"/>
            <a:ext cx="11176000" cy="553998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3000" b="1">
                <a:solidFill>
                  <a:srgbClr val="111833"/>
                </a:solidFill>
                <a:latin typeface="맑은 고딕" panose="020B0503020000020004" pitchFamily="50" charset="-127"/>
              </a:rPr>
              <a:t>전자투표 보안 진단과 개선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AD431-AE2E-3B1D-84E0-98D43FF13536}"/>
              </a:ext>
            </a:extLst>
          </p:cNvPr>
          <p:cNvSpPr txBox="1"/>
          <p:nvPr/>
        </p:nvSpPr>
        <p:spPr>
          <a:xfrm>
            <a:off x="533400" y="6451600"/>
            <a:ext cx="7620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7~8</a:t>
            </a:r>
            <a:r>
              <a:rPr lang="ko-KR" altLang="en-US" sz="1100">
                <a:solidFill>
                  <a:srgbClr val="646B80"/>
                </a:solidFill>
                <a:latin typeface="맑은 고딕" panose="020B0503020000020004" pitchFamily="50" charset="-127"/>
              </a:rPr>
              <a:t>주차 </a:t>
            </a:r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· 2026.10.24</a:t>
            </a:r>
            <a:endParaRPr lang="ko-KR" altLang="en-US" sz="1100">
              <a:solidFill>
                <a:srgbClr val="646B8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D4BA47-C7FB-039E-7090-29C4CF673116}"/>
              </a:ext>
            </a:extLst>
          </p:cNvPr>
          <p:cNvSpPr txBox="1"/>
          <p:nvPr/>
        </p:nvSpPr>
        <p:spPr>
          <a:xfrm>
            <a:off x="9652000" y="6451600"/>
            <a:ext cx="2032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20</a:t>
            </a:r>
            <a:r>
              <a:rPr lang="ko-KR" altLang="en-US" sz="1100">
                <a:solidFill>
                  <a:srgbClr val="646B80"/>
                </a:solidFill>
                <a:latin typeface="맑은 고딕" panose="020B0503020000020004" pitchFamily="50" charset="-127"/>
              </a:rPr>
              <a:t>초  </a:t>
            </a:r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|  1/5</a:t>
            </a:r>
            <a:endParaRPr lang="ko-KR" altLang="en-US" sz="1100">
              <a:solidFill>
                <a:srgbClr val="646B8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ED2A0-70A3-0FB4-0460-BE9520CF9C85}"/>
              </a:ext>
            </a:extLst>
          </p:cNvPr>
          <p:cNvSpPr txBox="1"/>
          <p:nvPr/>
        </p:nvSpPr>
        <p:spPr>
          <a:xfrm>
            <a:off x="558800" y="1803400"/>
            <a:ext cx="11049000" cy="477054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2500">
                <a:solidFill>
                  <a:srgbClr val="646B80"/>
                </a:solidFill>
                <a:latin typeface="맑은 고딕" panose="020B0503020000020004" pitchFamily="50" charset="-127"/>
              </a:rPr>
              <a:t>선거 중 등록 차단 </a:t>
            </a:r>
            <a:r>
              <a:rPr lang="en-US" altLang="ko-KR" sz="2500">
                <a:solidFill>
                  <a:srgbClr val="646B8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500">
                <a:solidFill>
                  <a:srgbClr val="646B80"/>
                </a:solidFill>
                <a:latin typeface="맑은 고딕" panose="020B0503020000020004" pitchFamily="50" charset="-127"/>
              </a:rPr>
              <a:t>결과 확정 </a:t>
            </a:r>
            <a:r>
              <a:rPr lang="en-US" altLang="ko-KR" sz="2500">
                <a:solidFill>
                  <a:srgbClr val="646B80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500">
                <a:solidFill>
                  <a:srgbClr val="646B80"/>
                </a:solidFill>
                <a:latin typeface="맑은 고딕" panose="020B0503020000020004" pitchFamily="50" charset="-127"/>
              </a:rPr>
              <a:t>감사 로그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0FBFF-5B67-B16C-978E-8DBDEC6B3A67}"/>
              </a:ext>
            </a:extLst>
          </p:cNvPr>
          <p:cNvSpPr txBox="1"/>
          <p:nvPr/>
        </p:nvSpPr>
        <p:spPr>
          <a:xfrm>
            <a:off x="609600" y="3238500"/>
            <a:ext cx="3429000" cy="92333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5400" b="1">
                <a:solidFill>
                  <a:srgbClr val="5B21B6"/>
                </a:solidFill>
                <a:latin typeface="맑은 고딕" panose="020B0503020000020004" pitchFamily="50" charset="-127"/>
              </a:rPr>
              <a:t>12</a:t>
            </a:r>
            <a:r>
              <a:rPr lang="ko-KR" altLang="en-US" sz="5400" b="1">
                <a:solidFill>
                  <a:srgbClr val="5B21B6"/>
                </a:solidFill>
                <a:latin typeface="맑은 고딕" panose="020B0503020000020004" pitchFamily="50" charset="-127"/>
              </a:rPr>
              <a:t>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44F6C-4ECC-773F-AF27-AAB12FEEF627}"/>
              </a:ext>
            </a:extLst>
          </p:cNvPr>
          <p:cNvSpPr txBox="1"/>
          <p:nvPr/>
        </p:nvSpPr>
        <p:spPr>
          <a:xfrm>
            <a:off x="609600" y="4381500"/>
            <a:ext cx="3429000" cy="4001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2000">
                <a:solidFill>
                  <a:srgbClr val="111833"/>
                </a:solidFill>
                <a:latin typeface="맑은 고딕" panose="020B0503020000020004" pitchFamily="50" charset="-127"/>
              </a:rPr>
              <a:t>이벤트 기록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B32665-4B99-BF29-DDE4-ED94F3824DA4}"/>
              </a:ext>
            </a:extLst>
          </p:cNvPr>
          <p:cNvSpPr txBox="1"/>
          <p:nvPr/>
        </p:nvSpPr>
        <p:spPr>
          <a:xfrm>
            <a:off x="4445000" y="3238500"/>
            <a:ext cx="3429000" cy="92333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5400" b="1">
                <a:solidFill>
                  <a:srgbClr val="5B21B6"/>
                </a:solidFill>
                <a:latin typeface="맑은 고딕" panose="020B0503020000020004" pitchFamily="50" charset="-127"/>
              </a:rPr>
              <a:t>47</a:t>
            </a:r>
            <a:r>
              <a:rPr lang="ko-KR" altLang="en-US" sz="5400" b="1">
                <a:solidFill>
                  <a:srgbClr val="5B21B6"/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08CBFB-5360-087D-9B20-9F8F1E2878D2}"/>
              </a:ext>
            </a:extLst>
          </p:cNvPr>
          <p:cNvSpPr txBox="1"/>
          <p:nvPr/>
        </p:nvSpPr>
        <p:spPr>
          <a:xfrm>
            <a:off x="4445000" y="4381500"/>
            <a:ext cx="3429000" cy="4001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2000">
                <a:solidFill>
                  <a:srgbClr val="111833"/>
                </a:solidFill>
                <a:latin typeface="맑은 고딕" panose="020B0503020000020004" pitchFamily="50" charset="-127"/>
              </a:rPr>
              <a:t>자동 테스트 통과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DAAAA6-0C55-7439-E849-0172DB9D45D9}"/>
              </a:ext>
            </a:extLst>
          </p:cNvPr>
          <p:cNvSpPr txBox="1"/>
          <p:nvPr/>
        </p:nvSpPr>
        <p:spPr>
          <a:xfrm>
            <a:off x="8382000" y="3238500"/>
            <a:ext cx="3429000" cy="92333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5400" b="1">
                <a:solidFill>
                  <a:srgbClr val="5B21B6"/>
                </a:solidFill>
                <a:latin typeface="맑은 고딕" panose="020B0503020000020004" pitchFamily="50" charset="-127"/>
              </a:rPr>
              <a:t>15</a:t>
            </a:r>
            <a:r>
              <a:rPr lang="ko-KR" altLang="en-US" sz="5400" b="1">
                <a:solidFill>
                  <a:srgbClr val="5B21B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E7B60E-6E1F-29A1-E0DE-C0531DF3CD85}"/>
              </a:ext>
            </a:extLst>
          </p:cNvPr>
          <p:cNvSpPr txBox="1"/>
          <p:nvPr/>
        </p:nvSpPr>
        <p:spPr>
          <a:xfrm>
            <a:off x="8382000" y="4381500"/>
            <a:ext cx="3429000" cy="4001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2000">
                <a:solidFill>
                  <a:srgbClr val="111833"/>
                </a:solidFill>
                <a:latin typeface="맑은 고딕" panose="020B0503020000020004" pitchFamily="50" charset="-127"/>
              </a:rPr>
              <a:t>취약점 진단 항목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AF0190-BBEF-88BB-B22E-A4C3CCFADF04}"/>
              </a:ext>
            </a:extLst>
          </p:cNvPr>
          <p:cNvSpPr txBox="1"/>
          <p:nvPr/>
        </p:nvSpPr>
        <p:spPr>
          <a:xfrm>
            <a:off x="609600" y="5486400"/>
            <a:ext cx="10922000" cy="415498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2100" b="1">
                <a:solidFill>
                  <a:srgbClr val="111833"/>
                </a:solidFill>
                <a:latin typeface="맑은 고딕" panose="020B0503020000020004" pitchFamily="50" charset="-127"/>
              </a:rPr>
              <a:t>진단 → 근거 → 조치 → 검증을 연결해 기록</a:t>
            </a:r>
          </a:p>
        </p:txBody>
      </p:sp>
    </p:spTree>
    <p:extLst>
      <p:ext uri="{BB962C8B-B14F-4D97-AF65-F5344CB8AC3E}">
        <p14:creationId xmlns:p14="http://schemas.microsoft.com/office/powerpoint/2010/main" val="752613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E0D7BF-8C5E-EE59-C864-E296E07174E1}"/>
              </a:ext>
            </a:extLst>
          </p:cNvPr>
          <p:cNvSpPr txBox="1"/>
          <p:nvPr/>
        </p:nvSpPr>
        <p:spPr>
          <a:xfrm>
            <a:off x="533400" y="254000"/>
            <a:ext cx="10160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 b="1">
                <a:solidFill>
                  <a:srgbClr val="5B21B6"/>
                </a:solidFill>
                <a:latin typeface="맑은 고딕" panose="020B0503020000020004" pitchFamily="50" charset="-127"/>
              </a:rPr>
              <a:t>CAPSTONE / BLOCKCHAIN VOTING</a:t>
            </a:r>
            <a:endParaRPr lang="ko-KR" altLang="en-US" sz="1100" b="1">
              <a:solidFill>
                <a:srgbClr val="5B21B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C59C8-AEE4-2B51-F6BA-2AEB8E63935A}"/>
              </a:ext>
            </a:extLst>
          </p:cNvPr>
          <p:cNvSpPr txBox="1"/>
          <p:nvPr/>
        </p:nvSpPr>
        <p:spPr>
          <a:xfrm>
            <a:off x="533400" y="736600"/>
            <a:ext cx="11176000" cy="553998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3000" b="1">
                <a:solidFill>
                  <a:srgbClr val="111833"/>
                </a:solidFill>
                <a:latin typeface="맑은 고딕" panose="020B0503020000020004" pitchFamily="50" charset="-127"/>
              </a:rPr>
              <a:t>등록과 결과 확정의 경계 보완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936F6-D02B-B1A9-C7B6-1661D5DCFF57}"/>
              </a:ext>
            </a:extLst>
          </p:cNvPr>
          <p:cNvSpPr txBox="1"/>
          <p:nvPr/>
        </p:nvSpPr>
        <p:spPr>
          <a:xfrm>
            <a:off x="533400" y="6451600"/>
            <a:ext cx="7620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7~8</a:t>
            </a:r>
            <a:r>
              <a:rPr lang="ko-KR" altLang="en-US" sz="1100">
                <a:solidFill>
                  <a:srgbClr val="646B80"/>
                </a:solidFill>
                <a:latin typeface="맑은 고딕" panose="020B0503020000020004" pitchFamily="50" charset="-127"/>
              </a:rPr>
              <a:t>주차 </a:t>
            </a:r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· 2026.10.24</a:t>
            </a:r>
            <a:endParaRPr lang="ko-KR" altLang="en-US" sz="1100">
              <a:solidFill>
                <a:srgbClr val="646B8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2A2EA-3B73-5934-D2AE-ECBE41520F04}"/>
              </a:ext>
            </a:extLst>
          </p:cNvPr>
          <p:cNvSpPr txBox="1"/>
          <p:nvPr/>
        </p:nvSpPr>
        <p:spPr>
          <a:xfrm>
            <a:off x="9652000" y="6451600"/>
            <a:ext cx="2032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1100">
                <a:solidFill>
                  <a:srgbClr val="646B80"/>
                </a:solidFill>
                <a:latin typeface="맑은 고딕" panose="020B0503020000020004" pitchFamily="50" charset="-127"/>
              </a:rPr>
              <a:t>초  </a:t>
            </a:r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|  2/5</a:t>
            </a:r>
            <a:endParaRPr lang="ko-KR" altLang="en-US" sz="1100">
              <a:solidFill>
                <a:srgbClr val="646B8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F41C2-234D-6603-163E-49FE35EA93DE}"/>
              </a:ext>
            </a:extLst>
          </p:cNvPr>
          <p:cNvSpPr txBox="1"/>
          <p:nvPr/>
        </p:nvSpPr>
        <p:spPr>
          <a:xfrm>
            <a:off x="558800" y="1841500"/>
            <a:ext cx="3429000" cy="461665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2400" b="1">
                <a:solidFill>
                  <a:srgbClr val="5B21B6"/>
                </a:solidFill>
                <a:latin typeface="맑은 고딕" panose="020B0503020000020004" pitchFamily="50" charset="-127"/>
              </a:rPr>
              <a:t>선거 중 등록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02BDFF-CF84-2C16-398C-340557AD7C5F}"/>
              </a:ext>
            </a:extLst>
          </p:cNvPr>
          <p:cNvSpPr txBox="1"/>
          <p:nvPr/>
        </p:nvSpPr>
        <p:spPr>
          <a:xfrm>
            <a:off x="558800" y="2603500"/>
            <a:ext cx="5080000" cy="1200329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2400">
                <a:solidFill>
                  <a:srgbClr val="111833"/>
                </a:solidFill>
                <a:latin typeface="맑은 고딕" panose="020B0503020000020004" pitchFamily="50" charset="-127"/>
              </a:rPr>
              <a:t>관리자 단독 추가 가능</a:t>
            </a:r>
          </a:p>
          <a:p>
            <a:r>
              <a:rPr lang="ko-KR" altLang="en-US" sz="2400">
                <a:solidFill>
                  <a:srgbClr val="111833"/>
                </a:solidFill>
                <a:latin typeface="맑은 고딕" panose="020B0503020000020004" pitchFamily="50" charset="-127"/>
              </a:rPr>
              <a:t>↓</a:t>
            </a:r>
          </a:p>
          <a:p>
            <a:r>
              <a:rPr lang="ko-KR" altLang="en-US" sz="2400">
                <a:solidFill>
                  <a:srgbClr val="111833"/>
                </a:solidFill>
                <a:latin typeface="맑은 고딕" panose="020B0503020000020004" pitchFamily="50" charset="-127"/>
              </a:rPr>
              <a:t>시작 후 등록 영구 차단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97CBDB-69F1-3755-04A8-86877075535A}"/>
              </a:ext>
            </a:extLst>
          </p:cNvPr>
          <p:cNvSpPr txBox="1"/>
          <p:nvPr/>
        </p:nvSpPr>
        <p:spPr>
          <a:xfrm>
            <a:off x="6350000" y="1841500"/>
            <a:ext cx="4826000" cy="461665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2400" b="1">
                <a:solidFill>
                  <a:srgbClr val="5B21B6"/>
                </a:solidFill>
                <a:latin typeface="맑은 고딕" panose="020B0503020000020004" pitchFamily="50" charset="-127"/>
              </a:rPr>
              <a:t>종료 후 결과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59698E-011E-344A-55EB-EBD4436CDA5D}"/>
              </a:ext>
            </a:extLst>
          </p:cNvPr>
          <p:cNvSpPr txBox="1"/>
          <p:nvPr/>
        </p:nvSpPr>
        <p:spPr>
          <a:xfrm>
            <a:off x="6350000" y="2603500"/>
            <a:ext cx="5334000" cy="1200329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2400">
                <a:solidFill>
                  <a:srgbClr val="111833"/>
                </a:solidFill>
                <a:latin typeface="맑은 고딕" panose="020B0503020000020004" pitchFamily="50" charset="-127"/>
              </a:rPr>
              <a:t>화면 시계 ≠ 마지막 블록 시각</a:t>
            </a:r>
          </a:p>
          <a:p>
            <a:r>
              <a:rPr lang="ko-KR" altLang="en-US" sz="2400">
                <a:solidFill>
                  <a:srgbClr val="111833"/>
                </a:solidFill>
                <a:latin typeface="맑은 고딕" panose="020B0503020000020004" pitchFamily="50" charset="-127"/>
              </a:rPr>
              <a:t>↓</a:t>
            </a:r>
          </a:p>
          <a:p>
            <a:r>
              <a:rPr lang="en-US" altLang="ko-KR" sz="2400">
                <a:solidFill>
                  <a:srgbClr val="111833"/>
                </a:solidFill>
                <a:latin typeface="맑은 고딕" panose="020B0503020000020004" pitchFamily="50" charset="-127"/>
              </a:rPr>
              <a:t>finalize </a:t>
            </a:r>
            <a:r>
              <a:rPr lang="ko-KR" altLang="en-US" sz="2400">
                <a:solidFill>
                  <a:srgbClr val="111833"/>
                </a:solidFill>
                <a:latin typeface="맑은 고딕" panose="020B0503020000020004" pitchFamily="50" charset="-127"/>
              </a:rPr>
              <a:t>거래로 결과 저장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576045-C974-7475-009F-A2C99C0968DC}"/>
              </a:ext>
            </a:extLst>
          </p:cNvPr>
          <p:cNvSpPr txBox="1"/>
          <p:nvPr/>
        </p:nvSpPr>
        <p:spPr>
          <a:xfrm>
            <a:off x="558800" y="5359400"/>
            <a:ext cx="11049000" cy="384721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1900" b="1">
                <a:solidFill>
                  <a:srgbClr val="111833"/>
                </a:solidFill>
                <a:latin typeface="맑은 고딕" panose="020B0503020000020004" pitchFamily="50" charset="-127"/>
              </a:rPr>
              <a:t>화면 검증 추가 조치</a:t>
            </a:r>
            <a:r>
              <a:rPr lang="en-US" altLang="ko-KR" sz="1900" b="1">
                <a:solidFill>
                  <a:srgbClr val="111833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900" b="1">
                <a:solidFill>
                  <a:srgbClr val="111833"/>
                </a:solidFill>
                <a:latin typeface="맑은 고딕" panose="020B0503020000020004" pitchFamily="50" charset="-127"/>
              </a:rPr>
              <a:t>종료 경계 </a:t>
            </a:r>
            <a:r>
              <a:rPr lang="en-US" altLang="ko-KR" sz="1900" b="1">
                <a:solidFill>
                  <a:srgbClr val="111833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900" b="1">
                <a:solidFill>
                  <a:srgbClr val="111833"/>
                </a:solidFill>
                <a:latin typeface="맑은 고딕" panose="020B0503020000020004" pitchFamily="50" charset="-127"/>
              </a:rPr>
              <a:t>초 정렬 </a:t>
            </a:r>
            <a:r>
              <a:rPr lang="en-US" altLang="ko-KR" sz="1900" b="1">
                <a:solidFill>
                  <a:srgbClr val="111833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900" b="1">
                <a:solidFill>
                  <a:srgbClr val="111833"/>
                </a:solidFill>
                <a:latin typeface="맑은 고딕" panose="020B0503020000020004" pitchFamily="50" charset="-127"/>
              </a:rPr>
              <a:t>오래된 블록의 가스 추정 실패 대응</a:t>
            </a:r>
          </a:p>
        </p:txBody>
      </p:sp>
    </p:spTree>
    <p:extLst>
      <p:ext uri="{BB962C8B-B14F-4D97-AF65-F5344CB8AC3E}">
        <p14:creationId xmlns:p14="http://schemas.microsoft.com/office/powerpoint/2010/main" val="3937836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522519-CA71-2A83-896B-8A2219DF6245}"/>
              </a:ext>
            </a:extLst>
          </p:cNvPr>
          <p:cNvSpPr txBox="1"/>
          <p:nvPr/>
        </p:nvSpPr>
        <p:spPr>
          <a:xfrm>
            <a:off x="533400" y="254000"/>
            <a:ext cx="10160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 b="1">
                <a:solidFill>
                  <a:srgbClr val="5B21B6"/>
                </a:solidFill>
                <a:latin typeface="맑은 고딕" panose="020B0503020000020004" pitchFamily="50" charset="-127"/>
              </a:rPr>
              <a:t>CAPSTONE / BLOCKCHAIN VOTING</a:t>
            </a:r>
            <a:endParaRPr lang="ko-KR" altLang="en-US" sz="1100" b="1">
              <a:solidFill>
                <a:srgbClr val="5B21B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2CCEC-4AB1-667D-95CA-45A370F20747}"/>
              </a:ext>
            </a:extLst>
          </p:cNvPr>
          <p:cNvSpPr txBox="1"/>
          <p:nvPr/>
        </p:nvSpPr>
        <p:spPr>
          <a:xfrm>
            <a:off x="533400" y="736600"/>
            <a:ext cx="11176000" cy="553998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3000" b="1">
                <a:solidFill>
                  <a:srgbClr val="111833"/>
                </a:solidFill>
                <a:latin typeface="맑은 고딕" panose="020B0503020000020004" pitchFamily="50" charset="-127"/>
              </a:rPr>
              <a:t>8</a:t>
            </a:r>
            <a:r>
              <a:rPr lang="ko-KR" altLang="en-US" sz="3000" b="1">
                <a:solidFill>
                  <a:srgbClr val="111833"/>
                </a:solidFill>
                <a:latin typeface="맑은 고딕" panose="020B0503020000020004" pitchFamily="50" charset="-127"/>
              </a:rPr>
              <a:t>주차</a:t>
            </a:r>
            <a:r>
              <a:rPr lang="en-US" altLang="ko-KR" sz="3000" b="1">
                <a:solidFill>
                  <a:srgbClr val="111833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3000" b="1">
                <a:solidFill>
                  <a:srgbClr val="111833"/>
                </a:solidFill>
                <a:latin typeface="맑은 고딕" panose="020B0503020000020004" pitchFamily="50" charset="-127"/>
              </a:rPr>
              <a:t>행위 기록 </a:t>
            </a:r>
            <a:r>
              <a:rPr lang="en-US" altLang="ko-KR" sz="3000" b="1">
                <a:solidFill>
                  <a:srgbClr val="111833"/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3000" b="1">
                <a:solidFill>
                  <a:srgbClr val="111833"/>
                </a:solidFill>
                <a:latin typeface="맑은 고딕" panose="020B0503020000020004" pitchFamily="50" charset="-127"/>
              </a:rPr>
              <a:t>종 → </a:t>
            </a:r>
            <a:r>
              <a:rPr lang="en-US" altLang="ko-KR" sz="3000" b="1">
                <a:solidFill>
                  <a:srgbClr val="111833"/>
                </a:solidFill>
                <a:latin typeface="맑은 고딕" panose="020B0503020000020004" pitchFamily="50" charset="-127"/>
              </a:rPr>
              <a:t>12</a:t>
            </a:r>
            <a:r>
              <a:rPr lang="ko-KR" altLang="en-US" sz="3000" b="1">
                <a:solidFill>
                  <a:srgbClr val="111833"/>
                </a:solidFill>
                <a:latin typeface="맑은 고딕" panose="020B0503020000020004" pitchFamily="50" charset="-127"/>
              </a:rPr>
              <a:t>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B5F52-7387-A719-983B-424F9531FA43}"/>
              </a:ext>
            </a:extLst>
          </p:cNvPr>
          <p:cNvSpPr txBox="1"/>
          <p:nvPr/>
        </p:nvSpPr>
        <p:spPr>
          <a:xfrm>
            <a:off x="533400" y="6451600"/>
            <a:ext cx="7620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7~8</a:t>
            </a:r>
            <a:r>
              <a:rPr lang="ko-KR" altLang="en-US" sz="1100">
                <a:solidFill>
                  <a:srgbClr val="646B80"/>
                </a:solidFill>
                <a:latin typeface="맑은 고딕" panose="020B0503020000020004" pitchFamily="50" charset="-127"/>
              </a:rPr>
              <a:t>주차 </a:t>
            </a:r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· 2026.10.24</a:t>
            </a:r>
            <a:endParaRPr lang="ko-KR" altLang="en-US" sz="1100">
              <a:solidFill>
                <a:srgbClr val="646B8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A23A3-1A12-E05A-6AD0-EA4888E27AE9}"/>
              </a:ext>
            </a:extLst>
          </p:cNvPr>
          <p:cNvSpPr txBox="1"/>
          <p:nvPr/>
        </p:nvSpPr>
        <p:spPr>
          <a:xfrm>
            <a:off x="9652000" y="6451600"/>
            <a:ext cx="2032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35</a:t>
            </a:r>
            <a:r>
              <a:rPr lang="ko-KR" altLang="en-US" sz="1100">
                <a:solidFill>
                  <a:srgbClr val="646B80"/>
                </a:solidFill>
                <a:latin typeface="맑은 고딕" panose="020B0503020000020004" pitchFamily="50" charset="-127"/>
              </a:rPr>
              <a:t>초  </a:t>
            </a:r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|  3/5</a:t>
            </a:r>
            <a:endParaRPr lang="ko-KR" altLang="en-US" sz="1100">
              <a:solidFill>
                <a:srgbClr val="646B8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F7D9AC-1290-8405-9491-32D0E46F023F}"/>
              </a:ext>
            </a:extLst>
          </p:cNvPr>
          <p:cNvSpPr txBox="1"/>
          <p:nvPr/>
        </p:nvSpPr>
        <p:spPr>
          <a:xfrm>
            <a:off x="584200" y="1879600"/>
            <a:ext cx="11049000" cy="954107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2800" b="1">
                <a:solidFill>
                  <a:srgbClr val="5B21B6"/>
                </a:solidFill>
                <a:latin typeface="맑은 고딕" panose="020B0503020000020004" pitchFamily="50" charset="-127"/>
              </a:rPr>
              <a:t>등록</a:t>
            </a:r>
            <a:r>
              <a:rPr lang="en-US" altLang="ko-KR" sz="2800" b="1">
                <a:solidFill>
                  <a:srgbClr val="5B21B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5B21B6"/>
                </a:solidFill>
                <a:latin typeface="맑은 고딕" panose="020B0503020000020004" pitchFamily="50" charset="-127"/>
              </a:rPr>
              <a:t>후보 추가</a:t>
            </a:r>
            <a:r>
              <a:rPr lang="en-US" altLang="ko-KR" sz="2800" b="1">
                <a:solidFill>
                  <a:srgbClr val="5B21B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5B21B6"/>
                </a:solidFill>
                <a:latin typeface="맑은 고딕" panose="020B0503020000020004" pitchFamily="50" charset="-127"/>
              </a:rPr>
              <a:t>투표 사실</a:t>
            </a:r>
          </a:p>
          <a:p>
            <a:r>
              <a:rPr lang="ko-KR" altLang="en-US" sz="2800" b="1">
                <a:solidFill>
                  <a:srgbClr val="5B21B6"/>
                </a:solidFill>
                <a:latin typeface="맑은 고딕" panose="020B0503020000020004" pitchFamily="50" charset="-127"/>
              </a:rPr>
              <a:t>관리자 추가</a:t>
            </a:r>
            <a:r>
              <a:rPr lang="en-US" altLang="ko-KR" sz="2800" b="1">
                <a:solidFill>
                  <a:srgbClr val="5B21B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5B21B6"/>
                </a:solidFill>
                <a:latin typeface="맑은 고딕" panose="020B0503020000020004" pitchFamily="50" charset="-127"/>
              </a:rPr>
              <a:t>제거</a:t>
            </a:r>
            <a:r>
              <a:rPr lang="en-US" altLang="ko-KR" sz="2800" b="1">
                <a:solidFill>
                  <a:srgbClr val="5B21B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5B21B6"/>
                </a:solidFill>
                <a:latin typeface="맑은 고딕" panose="020B0503020000020004" pitchFamily="50" charset="-127"/>
              </a:rPr>
              <a:t>선거 시작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CA8AE-5498-00ED-75F7-2C06C395F424}"/>
              </a:ext>
            </a:extLst>
          </p:cNvPr>
          <p:cNvSpPr txBox="1"/>
          <p:nvPr/>
        </p:nvSpPr>
        <p:spPr>
          <a:xfrm>
            <a:off x="584200" y="3619500"/>
            <a:ext cx="11049000" cy="507831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2700" b="1">
                <a:solidFill>
                  <a:srgbClr val="111833"/>
                </a:solidFill>
                <a:latin typeface="맑은 고딕" panose="020B0503020000020004" pitchFamily="50" charset="-127"/>
              </a:rPr>
              <a:t>제안 → 승인 → 실행 → 반영 결과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E24B64-17A1-C6EF-B756-C05A8AC6783A}"/>
              </a:ext>
            </a:extLst>
          </p:cNvPr>
          <p:cNvSpPr txBox="1"/>
          <p:nvPr/>
        </p:nvSpPr>
        <p:spPr>
          <a:xfrm>
            <a:off x="584200" y="4445000"/>
            <a:ext cx="11049000" cy="430887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2200">
                <a:solidFill>
                  <a:srgbClr val="111833"/>
                </a:solidFill>
                <a:latin typeface="맑은 고딕" panose="020B0503020000020004" pitchFamily="50" charset="-127"/>
              </a:rPr>
              <a:t>제안 번호 </a:t>
            </a:r>
            <a:r>
              <a:rPr lang="en-US" altLang="ko-KR" sz="2200">
                <a:solidFill>
                  <a:srgbClr val="111833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111833"/>
                </a:solidFill>
                <a:latin typeface="맑은 고딕" panose="020B0503020000020004" pitchFamily="50" charset="-127"/>
              </a:rPr>
              <a:t>거래 해시 </a:t>
            </a:r>
            <a:r>
              <a:rPr lang="en-US" altLang="ko-KR" sz="2200">
                <a:solidFill>
                  <a:srgbClr val="111833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200">
                <a:solidFill>
                  <a:srgbClr val="111833"/>
                </a:solidFill>
                <a:latin typeface="맑은 고딕" panose="020B0503020000020004" pitchFamily="50" charset="-127"/>
              </a:rPr>
              <a:t>로그 순번으로 원본 대조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70708-E65E-313A-EFC5-CA040C85D10F}"/>
              </a:ext>
            </a:extLst>
          </p:cNvPr>
          <p:cNvSpPr txBox="1"/>
          <p:nvPr/>
        </p:nvSpPr>
        <p:spPr>
          <a:xfrm>
            <a:off x="584200" y="5334000"/>
            <a:ext cx="11049000" cy="677108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1900">
                <a:solidFill>
                  <a:srgbClr val="646B80"/>
                </a:solidFill>
                <a:latin typeface="맑은 고딕" panose="020B0503020000020004" pitchFamily="50" charset="-127"/>
              </a:rPr>
              <a:t>투표 이벤트에서 후보 번호 제외</a:t>
            </a:r>
          </a:p>
          <a:p>
            <a:r>
              <a:rPr lang="ko-KR" altLang="en-US" sz="1900">
                <a:solidFill>
                  <a:srgbClr val="646B80"/>
                </a:solidFill>
                <a:latin typeface="맑은 고딕" panose="020B0503020000020004" pitchFamily="50" charset="-127"/>
              </a:rPr>
              <a:t>거래 입력은 공개되므로 익명성은 미해결</a:t>
            </a:r>
          </a:p>
        </p:txBody>
      </p:sp>
    </p:spTree>
    <p:extLst>
      <p:ext uri="{BB962C8B-B14F-4D97-AF65-F5344CB8AC3E}">
        <p14:creationId xmlns:p14="http://schemas.microsoft.com/office/powerpoint/2010/main" val="2662261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3831D4-5673-502C-600F-08A25F9EA301}"/>
              </a:ext>
            </a:extLst>
          </p:cNvPr>
          <p:cNvSpPr txBox="1"/>
          <p:nvPr/>
        </p:nvSpPr>
        <p:spPr>
          <a:xfrm>
            <a:off x="533400" y="254000"/>
            <a:ext cx="10160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 b="1">
                <a:solidFill>
                  <a:srgbClr val="5B21B6"/>
                </a:solidFill>
                <a:latin typeface="맑은 고딕" panose="020B0503020000020004" pitchFamily="50" charset="-127"/>
              </a:rPr>
              <a:t>CAPSTONE / BLOCKCHAIN VOTING</a:t>
            </a:r>
            <a:endParaRPr lang="ko-KR" altLang="en-US" sz="1100" b="1">
              <a:solidFill>
                <a:srgbClr val="5B21B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EE9C6-DA4E-835A-034C-1CFBC6474F34}"/>
              </a:ext>
            </a:extLst>
          </p:cNvPr>
          <p:cNvSpPr txBox="1"/>
          <p:nvPr/>
        </p:nvSpPr>
        <p:spPr>
          <a:xfrm>
            <a:off x="533400" y="736600"/>
            <a:ext cx="11176000" cy="553998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3000" b="1">
                <a:solidFill>
                  <a:srgbClr val="111833"/>
                </a:solidFill>
                <a:latin typeface="맑은 고딕" panose="020B0503020000020004" pitchFamily="50" charset="-127"/>
              </a:rPr>
              <a:t>테스트와 화면으로 결과 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98EA8E-F441-98A9-D3F2-EB35F9836AC6}"/>
              </a:ext>
            </a:extLst>
          </p:cNvPr>
          <p:cNvSpPr txBox="1"/>
          <p:nvPr/>
        </p:nvSpPr>
        <p:spPr>
          <a:xfrm>
            <a:off x="533400" y="6451600"/>
            <a:ext cx="7620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7~8</a:t>
            </a:r>
            <a:r>
              <a:rPr lang="ko-KR" altLang="en-US" sz="1100">
                <a:solidFill>
                  <a:srgbClr val="646B80"/>
                </a:solidFill>
                <a:latin typeface="맑은 고딕" panose="020B0503020000020004" pitchFamily="50" charset="-127"/>
              </a:rPr>
              <a:t>주차 </a:t>
            </a:r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· 2026.10.24</a:t>
            </a:r>
            <a:endParaRPr lang="ko-KR" altLang="en-US" sz="1100">
              <a:solidFill>
                <a:srgbClr val="646B8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D918A-E8D8-9276-FCC4-3D5E5EDAF833}"/>
              </a:ext>
            </a:extLst>
          </p:cNvPr>
          <p:cNvSpPr txBox="1"/>
          <p:nvPr/>
        </p:nvSpPr>
        <p:spPr>
          <a:xfrm>
            <a:off x="9652000" y="6451600"/>
            <a:ext cx="2032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40</a:t>
            </a:r>
            <a:r>
              <a:rPr lang="ko-KR" altLang="en-US" sz="1100">
                <a:solidFill>
                  <a:srgbClr val="646B80"/>
                </a:solidFill>
                <a:latin typeface="맑은 고딕" panose="020B0503020000020004" pitchFamily="50" charset="-127"/>
              </a:rPr>
              <a:t>초  </a:t>
            </a:r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|  4/5</a:t>
            </a:r>
            <a:endParaRPr lang="ko-KR" altLang="en-US" sz="1100">
              <a:solidFill>
                <a:srgbClr val="646B8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D10BA-D49A-7DD8-D8B6-E9C68BB9FD5A}"/>
              </a:ext>
            </a:extLst>
          </p:cNvPr>
          <p:cNvSpPr txBox="1"/>
          <p:nvPr/>
        </p:nvSpPr>
        <p:spPr>
          <a:xfrm>
            <a:off x="558800" y="1841500"/>
            <a:ext cx="5588000" cy="553998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3000" b="1">
                <a:solidFill>
                  <a:srgbClr val="5B21B6"/>
                </a:solidFill>
                <a:latin typeface="맑은 고딕" panose="020B0503020000020004" pitchFamily="50" charset="-127"/>
              </a:rPr>
              <a:t>36 → 47 passing</a:t>
            </a:r>
            <a:endParaRPr lang="ko-KR" altLang="en-US" sz="3000" b="1">
              <a:solidFill>
                <a:srgbClr val="5B21B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B9A10-6AD7-1770-6FA5-81C8D037F5F9}"/>
              </a:ext>
            </a:extLst>
          </p:cNvPr>
          <p:cNvSpPr txBox="1"/>
          <p:nvPr/>
        </p:nvSpPr>
        <p:spPr>
          <a:xfrm>
            <a:off x="558800" y="2768600"/>
            <a:ext cx="5588000" cy="800219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2300">
                <a:solidFill>
                  <a:srgbClr val="111833"/>
                </a:solidFill>
                <a:latin typeface="맑은 고딕" panose="020B0503020000020004" pitchFamily="50" charset="-127"/>
              </a:rPr>
              <a:t>42</a:t>
            </a:r>
            <a:r>
              <a:rPr lang="ko-KR" altLang="en-US" sz="2300">
                <a:solidFill>
                  <a:srgbClr val="111833"/>
                </a:solidFill>
                <a:latin typeface="맑은 고딕" panose="020B0503020000020004" pitchFamily="50" charset="-127"/>
              </a:rPr>
              <a:t>개  동작</a:t>
            </a:r>
            <a:r>
              <a:rPr lang="en-US" altLang="ko-KR" sz="2300">
                <a:solidFill>
                  <a:srgbClr val="111833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2300">
                <a:solidFill>
                  <a:srgbClr val="111833"/>
                </a:solidFill>
                <a:latin typeface="맑은 고딕" panose="020B0503020000020004" pitchFamily="50" charset="-127"/>
              </a:rPr>
              <a:t>보완 검증</a:t>
            </a:r>
          </a:p>
          <a:p>
            <a:r>
              <a:rPr lang="ko-KR" altLang="en-US" sz="2300">
                <a:solidFill>
                  <a:srgbClr val="111833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2300">
                <a:solidFill>
                  <a:srgbClr val="111833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2300">
                <a:solidFill>
                  <a:srgbClr val="111833"/>
                </a:solidFill>
                <a:latin typeface="맑은 고딕" panose="020B0503020000020004" pitchFamily="50" charset="-127"/>
              </a:rPr>
              <a:t>개  남은 취약점 재현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DCDC3B-82A1-17CA-AB53-3655D5499ADB}"/>
              </a:ext>
            </a:extLst>
          </p:cNvPr>
          <p:cNvSpPr txBox="1"/>
          <p:nvPr/>
        </p:nvSpPr>
        <p:spPr>
          <a:xfrm>
            <a:off x="558800" y="4279900"/>
            <a:ext cx="5588000" cy="1061829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2100">
                <a:solidFill>
                  <a:srgbClr val="111833"/>
                </a:solidFill>
                <a:latin typeface="맑은 고딕" panose="020B0503020000020004" pitchFamily="50" charset="-127"/>
              </a:rPr>
              <a:t>최초 관리자 없이 </a:t>
            </a:r>
            <a:r>
              <a:rPr lang="en-US" altLang="ko-KR" sz="2100">
                <a:solidFill>
                  <a:srgbClr val="111833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2100">
                <a:solidFill>
                  <a:srgbClr val="111833"/>
                </a:solidFill>
                <a:latin typeface="맑은 고딕" panose="020B0503020000020004" pitchFamily="50" charset="-127"/>
              </a:rPr>
              <a:t>명 승인</a:t>
            </a:r>
          </a:p>
          <a:p>
            <a:r>
              <a:rPr lang="ko-KR" altLang="en-US" sz="2100">
                <a:solidFill>
                  <a:srgbClr val="111833"/>
                </a:solidFill>
                <a:latin typeface="맑은 고딕" panose="020B0503020000020004" pitchFamily="50" charset="-127"/>
              </a:rPr>
              <a:t>관리자 제거도 </a:t>
            </a:r>
            <a:r>
              <a:rPr lang="en-US" altLang="ko-KR" sz="2100">
                <a:solidFill>
                  <a:srgbClr val="111833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2100">
                <a:solidFill>
                  <a:srgbClr val="111833"/>
                </a:solidFill>
                <a:latin typeface="맑은 고딕" panose="020B0503020000020004" pitchFamily="50" charset="-127"/>
              </a:rPr>
              <a:t>명 승인</a:t>
            </a:r>
          </a:p>
          <a:p>
            <a:r>
              <a:rPr lang="ko-KR" altLang="en-US" sz="2100">
                <a:solidFill>
                  <a:srgbClr val="111833"/>
                </a:solidFill>
                <a:latin typeface="맑은 고딕" panose="020B0503020000020004" pitchFamily="50" charset="-127"/>
              </a:rPr>
              <a:t>실제 대기 후 화면에서 확정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FA99BCD-5278-5758-B90C-C73C04C29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625600"/>
            <a:ext cx="5080000" cy="38805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76AF9D-829C-B540-E53B-E18D733DC557}"/>
              </a:ext>
            </a:extLst>
          </p:cNvPr>
          <p:cNvSpPr txBox="1"/>
          <p:nvPr/>
        </p:nvSpPr>
        <p:spPr>
          <a:xfrm>
            <a:off x="6477000" y="5905500"/>
            <a:ext cx="5207000" cy="430887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1100">
                <a:solidFill>
                  <a:srgbClr val="646B80"/>
                </a:solidFill>
                <a:latin typeface="맑은 고딕" panose="020B0503020000020004" pitchFamily="50" charset="-127"/>
              </a:rPr>
              <a:t>테스트 지갑 자동 검증 캡처</a:t>
            </a:r>
          </a:p>
          <a:p>
            <a:r>
              <a:rPr lang="ko-KR" altLang="en-US" sz="1100">
                <a:solidFill>
                  <a:srgbClr val="646B80"/>
                </a:solidFill>
                <a:latin typeface="맑은 고딕" panose="020B0503020000020004" pitchFamily="50" charset="-127"/>
              </a:rPr>
              <a:t>실제 </a:t>
            </a:r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MetaMask </a:t>
            </a:r>
            <a:r>
              <a:rPr lang="ko-KR" altLang="en-US" sz="1100">
                <a:solidFill>
                  <a:srgbClr val="646B80"/>
                </a:solidFill>
                <a:latin typeface="맑은 고딕" panose="020B0503020000020004" pitchFamily="50" charset="-127"/>
              </a:rPr>
              <a:t>투표</a:t>
            </a:r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46B80"/>
                </a:solidFill>
                <a:latin typeface="맑은 고딕" panose="020B0503020000020004" pitchFamily="50" charset="-127"/>
              </a:rPr>
              <a:t>확정도 별도 검증 완료</a:t>
            </a:r>
          </a:p>
        </p:txBody>
      </p:sp>
    </p:spTree>
    <p:extLst>
      <p:ext uri="{BB962C8B-B14F-4D97-AF65-F5344CB8AC3E}">
        <p14:creationId xmlns:p14="http://schemas.microsoft.com/office/powerpoint/2010/main" val="1102396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0EDE2E-A42F-EAC6-AAA4-713270BF623F}"/>
              </a:ext>
            </a:extLst>
          </p:cNvPr>
          <p:cNvSpPr txBox="1"/>
          <p:nvPr/>
        </p:nvSpPr>
        <p:spPr>
          <a:xfrm>
            <a:off x="533400" y="254000"/>
            <a:ext cx="10160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 b="1">
                <a:solidFill>
                  <a:srgbClr val="5B21B6"/>
                </a:solidFill>
                <a:latin typeface="맑은 고딕" panose="020B0503020000020004" pitchFamily="50" charset="-127"/>
              </a:rPr>
              <a:t>CAPSTONE / BLOCKCHAIN VOTING</a:t>
            </a:r>
            <a:endParaRPr lang="ko-KR" altLang="en-US" sz="1100" b="1">
              <a:solidFill>
                <a:srgbClr val="5B21B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CAFC54-4632-35A0-A918-9C9601BF78A7}"/>
              </a:ext>
            </a:extLst>
          </p:cNvPr>
          <p:cNvSpPr txBox="1"/>
          <p:nvPr/>
        </p:nvSpPr>
        <p:spPr>
          <a:xfrm>
            <a:off x="533400" y="736600"/>
            <a:ext cx="11176000" cy="553998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3000" b="1">
                <a:solidFill>
                  <a:srgbClr val="111833"/>
                </a:solidFill>
                <a:latin typeface="맑은 고딕" panose="020B0503020000020004" pitchFamily="50" charset="-127"/>
              </a:rPr>
              <a:t>현황과 다음 단계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98F4D-7557-0943-B1E5-DD93AF21EB81}"/>
              </a:ext>
            </a:extLst>
          </p:cNvPr>
          <p:cNvSpPr txBox="1"/>
          <p:nvPr/>
        </p:nvSpPr>
        <p:spPr>
          <a:xfrm>
            <a:off x="533400" y="6451600"/>
            <a:ext cx="7620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7~8</a:t>
            </a:r>
            <a:r>
              <a:rPr lang="ko-KR" altLang="en-US" sz="1100">
                <a:solidFill>
                  <a:srgbClr val="646B80"/>
                </a:solidFill>
                <a:latin typeface="맑은 고딕" panose="020B0503020000020004" pitchFamily="50" charset="-127"/>
              </a:rPr>
              <a:t>주차 </a:t>
            </a:r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· 2026.10.24</a:t>
            </a:r>
            <a:endParaRPr lang="ko-KR" altLang="en-US" sz="1100">
              <a:solidFill>
                <a:srgbClr val="646B8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D742BA-9AF9-2B17-531B-B37EF92FED35}"/>
              </a:ext>
            </a:extLst>
          </p:cNvPr>
          <p:cNvSpPr txBox="1"/>
          <p:nvPr/>
        </p:nvSpPr>
        <p:spPr>
          <a:xfrm>
            <a:off x="9652000" y="6451600"/>
            <a:ext cx="2032000" cy="261610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25</a:t>
            </a:r>
            <a:r>
              <a:rPr lang="ko-KR" altLang="en-US" sz="1100">
                <a:solidFill>
                  <a:srgbClr val="646B80"/>
                </a:solidFill>
                <a:latin typeface="맑은 고딕" panose="020B0503020000020004" pitchFamily="50" charset="-127"/>
              </a:rPr>
              <a:t>초  </a:t>
            </a:r>
            <a:r>
              <a:rPr lang="en-US" altLang="ko-KR" sz="1100">
                <a:solidFill>
                  <a:srgbClr val="646B80"/>
                </a:solidFill>
                <a:latin typeface="맑은 고딕" panose="020B0503020000020004" pitchFamily="50" charset="-127"/>
              </a:rPr>
              <a:t>|  5/5</a:t>
            </a:r>
            <a:endParaRPr lang="ko-KR" altLang="en-US" sz="1100">
              <a:solidFill>
                <a:srgbClr val="646B8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7B9BD-8801-A86A-B84E-4CA131DD4070}"/>
              </a:ext>
            </a:extLst>
          </p:cNvPr>
          <p:cNvSpPr txBox="1"/>
          <p:nvPr/>
        </p:nvSpPr>
        <p:spPr>
          <a:xfrm>
            <a:off x="558800" y="1905000"/>
            <a:ext cx="11049000" cy="630942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3500" b="1">
                <a:solidFill>
                  <a:srgbClr val="5B21B6"/>
                </a:solidFill>
                <a:latin typeface="맑은 고딕" panose="020B0503020000020004" pitchFamily="50" charset="-127"/>
              </a:rPr>
              <a:t>해결 </a:t>
            </a:r>
            <a:r>
              <a:rPr lang="en-US" altLang="ko-KR" sz="3500" b="1">
                <a:solidFill>
                  <a:srgbClr val="5B21B6"/>
                </a:solidFill>
                <a:latin typeface="맑은 고딕" panose="020B0503020000020004" pitchFamily="50" charset="-127"/>
              </a:rPr>
              <a:t>7 · </a:t>
            </a:r>
            <a:r>
              <a:rPr lang="ko-KR" altLang="en-US" sz="3500" b="1">
                <a:solidFill>
                  <a:srgbClr val="5B21B6"/>
                </a:solidFill>
                <a:latin typeface="맑은 고딕" panose="020B0503020000020004" pitchFamily="50" charset="-127"/>
              </a:rPr>
              <a:t>부분 해결 </a:t>
            </a:r>
            <a:r>
              <a:rPr lang="en-US" altLang="ko-KR" sz="3500" b="1">
                <a:solidFill>
                  <a:srgbClr val="5B21B6"/>
                </a:solidFill>
                <a:latin typeface="맑은 고딕" panose="020B0503020000020004" pitchFamily="50" charset="-127"/>
              </a:rPr>
              <a:t>2 · </a:t>
            </a:r>
            <a:r>
              <a:rPr lang="ko-KR" altLang="en-US" sz="3500" b="1">
                <a:solidFill>
                  <a:srgbClr val="5B21B6"/>
                </a:solidFill>
                <a:latin typeface="맑은 고딕" panose="020B0503020000020004" pitchFamily="50" charset="-127"/>
              </a:rPr>
              <a:t>예정 </a:t>
            </a:r>
            <a:r>
              <a:rPr lang="en-US" altLang="ko-KR" sz="3500" b="1">
                <a:solidFill>
                  <a:srgbClr val="5B21B6"/>
                </a:solidFill>
                <a:latin typeface="맑은 고딕" panose="020B0503020000020004" pitchFamily="50" charset="-127"/>
              </a:rPr>
              <a:t>6</a:t>
            </a:r>
            <a:endParaRPr lang="ko-KR" altLang="en-US" sz="3500" b="1">
              <a:solidFill>
                <a:srgbClr val="5B21B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5A161-F3DB-FC19-59E6-7763A4BEF8F3}"/>
              </a:ext>
            </a:extLst>
          </p:cNvPr>
          <p:cNvSpPr txBox="1"/>
          <p:nvPr/>
        </p:nvSpPr>
        <p:spPr>
          <a:xfrm>
            <a:off x="558800" y="3238500"/>
            <a:ext cx="11049000" cy="1292662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en-US" altLang="ko-KR" sz="2600">
                <a:solidFill>
                  <a:srgbClr val="111833"/>
                </a:solidFill>
                <a:latin typeface="맑은 고딕" panose="020B0503020000020004" pitchFamily="50" charset="-127"/>
              </a:rPr>
              <a:t>9~10</a:t>
            </a:r>
            <a:r>
              <a:rPr lang="ko-KR" altLang="en-US" sz="2600">
                <a:solidFill>
                  <a:srgbClr val="111833"/>
                </a:solidFill>
                <a:latin typeface="맑은 고딕" panose="020B0503020000020004" pitchFamily="50" charset="-127"/>
              </a:rPr>
              <a:t>주차 보완</a:t>
            </a:r>
          </a:p>
          <a:p>
            <a:r>
              <a:rPr lang="ko-KR" altLang="en-US" sz="2600">
                <a:solidFill>
                  <a:srgbClr val="111833"/>
                </a:solidFill>
                <a:latin typeface="맑은 고딕" panose="020B0503020000020004" pitchFamily="50" charset="-127"/>
              </a:rPr>
              <a:t>관리자 인원 계산 </a:t>
            </a:r>
            <a:r>
              <a:rPr lang="en-US" altLang="ko-KR" sz="2600">
                <a:solidFill>
                  <a:srgbClr val="111833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600">
                <a:solidFill>
                  <a:srgbClr val="111833"/>
                </a:solidFill>
                <a:latin typeface="맑은 고딕" panose="020B0503020000020004" pitchFamily="50" charset="-127"/>
              </a:rPr>
              <a:t>확정 전 재시작</a:t>
            </a:r>
          </a:p>
          <a:p>
            <a:r>
              <a:rPr lang="ko-KR" altLang="en-US" sz="2600">
                <a:solidFill>
                  <a:srgbClr val="111833"/>
                </a:solidFill>
                <a:latin typeface="맑은 고딕" panose="020B0503020000020004" pitchFamily="50" charset="-127"/>
              </a:rPr>
              <a:t>동점 처리 </a:t>
            </a:r>
            <a:r>
              <a:rPr lang="en-US" altLang="ko-KR" sz="2600">
                <a:solidFill>
                  <a:srgbClr val="111833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2600">
                <a:solidFill>
                  <a:srgbClr val="111833"/>
                </a:solidFill>
                <a:latin typeface="맑은 고딕" panose="020B0503020000020004" pitchFamily="50" charset="-127"/>
              </a:rPr>
              <a:t>정지 중 결과 조회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3DACA-842C-182A-B348-FC1246308203}"/>
              </a:ext>
            </a:extLst>
          </p:cNvPr>
          <p:cNvSpPr txBox="1"/>
          <p:nvPr/>
        </p:nvSpPr>
        <p:spPr>
          <a:xfrm>
            <a:off x="558800" y="5549900"/>
            <a:ext cx="11049000" cy="415498"/>
          </a:xfrm>
          <a:prstGeom prst="rect">
            <a:avLst/>
          </a:prstGeom>
          <a:noFill/>
        </p:spPr>
        <p:txBody>
          <a:bodyPr vert="horz" wrap="square" lIns="0" rIns="0" rtlCol="0">
            <a:spAutoFit/>
          </a:bodyPr>
          <a:lstStyle/>
          <a:p>
            <a:r>
              <a:rPr lang="ko-KR" altLang="en-US" sz="2100" b="1">
                <a:solidFill>
                  <a:srgbClr val="111833"/>
                </a:solidFill>
                <a:latin typeface="맑은 고딕" panose="020B0503020000020004" pitchFamily="50" charset="-127"/>
              </a:rPr>
              <a:t>최종 결과물</a:t>
            </a:r>
            <a:r>
              <a:rPr lang="en-US" altLang="ko-KR" sz="2100" b="1">
                <a:solidFill>
                  <a:srgbClr val="111833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2100" b="1">
                <a:solidFill>
                  <a:srgbClr val="111833"/>
                </a:solidFill>
                <a:latin typeface="맑은 고딕" panose="020B0503020000020004" pitchFamily="50" charset="-127"/>
              </a:rPr>
              <a:t>취약점진단보고서 </a:t>
            </a:r>
            <a:r>
              <a:rPr lang="en-US" altLang="ko-KR" sz="2100" b="1">
                <a:solidFill>
                  <a:srgbClr val="111833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2100" b="1">
                <a:solidFill>
                  <a:srgbClr val="111833"/>
                </a:solidFill>
                <a:latin typeface="맑은 고딕" panose="020B0503020000020004" pitchFamily="50" charset="-127"/>
              </a:rPr>
              <a:t>개선된 투표시스템</a:t>
            </a:r>
          </a:p>
        </p:txBody>
      </p:sp>
    </p:spTree>
    <p:extLst>
      <p:ext uri="{BB962C8B-B14F-4D97-AF65-F5344CB8AC3E}">
        <p14:creationId xmlns:p14="http://schemas.microsoft.com/office/powerpoint/2010/main" val="2776855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사용자 지정</PresentationFormat>
  <Paragraphs>56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태빈 이</dc:creator>
  <cp:lastModifiedBy>태빈 이</cp:lastModifiedBy>
  <cp:revision>1</cp:revision>
  <dcterms:created xsi:type="dcterms:W3CDTF">2026-10-24T06:27:15Z</dcterms:created>
  <dcterms:modified xsi:type="dcterms:W3CDTF">2026-10-24T06:27:15Z</dcterms:modified>
</cp:coreProperties>
</file>